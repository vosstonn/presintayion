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58" r:id="rId5"/>
    <p:sldId id="264" r:id="rId6"/>
    <p:sldId id="259" r:id="rId7"/>
    <p:sldId id="263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D4108B-232C-42D7-87BD-856E4250E400}" v="61" dt="2026-10-19T13:56:13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97FB7-8BF0-4FCA-9B60-1FE63BF7EC33}" type="datetimeFigureOut">
              <a:t>19.10.2026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4E927F-0CEC-4F0F-9269-1FC70DBD370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88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10" dirty="0">
                <a:solidFill>
                  <a:srgbClr val="8A94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КАДР  /  УЧЕБНЫЙ ПРОЕКТ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48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48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F8F7F2"/>
          </a:solidFill>
          <a:ln w="12700">
            <a:solidFill>
              <a:srgbClr val="F8F7F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44168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ru-RU" sz="4600" b="1" dirty="0">
                <a:solidFill>
                  <a:srgbClr val="202C2B"/>
                </a:solidFill>
                <a:ea typeface="Aptos Display" pitchFamily="34" charset="-122"/>
              </a:rPr>
              <a:t>КАДР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94944" y="285292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Простой веб-сайт каталога фильмов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04088" y="3703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 ·  Flask  ·  PostgreSQL  ·  pgAdmin 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" y="459028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Учебный проект: работа сайта с базой данных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579729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87928B"/>
                </a:solidFill>
                <a:latin typeface="Aptos"/>
                <a:ea typeface="Aptos" pitchFamily="34" charset="-122"/>
                <a:cs typeface="Aptos" pitchFamily="34" charset="-120"/>
              </a:rPr>
              <a:t>Выполнил Яперов </a:t>
            </a:r>
            <a:r>
              <a:rPr lang="en-US" sz="1100" dirty="0" err="1">
                <a:solidFill>
                  <a:srgbClr val="87928B"/>
                </a:solidFill>
                <a:latin typeface="Aptos"/>
                <a:ea typeface="Aptos" pitchFamily="34" charset="-122"/>
                <a:cs typeface="Aptos" pitchFamily="34" charset="-120"/>
              </a:rPr>
              <a:t>Иван</a:t>
            </a:r>
            <a:endParaRPr lang="en-US" sz="1100" dirty="0" err="1"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748272" y="82296"/>
            <a:ext cx="5404104" cy="6858000"/>
          </a:xfrm>
          <a:prstGeom prst="rect">
            <a:avLst/>
          </a:prstGeom>
          <a:solidFill>
            <a:srgbClr val="E8EFE7"/>
          </a:solidFill>
          <a:ln w="12700">
            <a:solidFill>
              <a:srgbClr val="E8EFE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24928" y="659962"/>
            <a:ext cx="2834640" cy="2834640"/>
          </a:xfrm>
          <a:prstGeom prst="ellipse">
            <a:avLst/>
          </a:prstGeom>
          <a:solidFill>
            <a:srgbClr val="DCC19E"/>
          </a:solidFill>
          <a:ln w="12700">
            <a:solidFill>
              <a:srgbClr val="DCC19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31736" y="1239012"/>
            <a:ext cx="4279392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E1E5DD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8" name="Text 16"/>
          <p:cNvSpPr/>
          <p:nvPr/>
        </p:nvSpPr>
        <p:spPr>
          <a:xfrm>
            <a:off x="7434072" y="1792224"/>
            <a:ext cx="2439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КАДР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34072" y="2093976"/>
            <a:ext cx="278160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Каталог</a:t>
            </a:r>
            <a:r>
              <a:rPr lang="en-US" sz="16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ru-RU" sz="16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фильмов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34072" y="2487168"/>
            <a:ext cx="3950208" cy="329184"/>
          </a:xfrm>
          <a:prstGeom prst="roundRect">
            <a:avLst>
              <a:gd name="adj" fmla="val 33333"/>
            </a:avLst>
          </a:prstGeom>
          <a:solidFill>
            <a:srgbClr val="F8F9F5"/>
          </a:solidFill>
          <a:ln w="12700">
            <a:solidFill>
              <a:srgbClr val="E7E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2505456"/>
            <a:ext cx="3730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   Поиск фильма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434072" y="2962656"/>
            <a:ext cx="1911096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A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16368" y="3054096"/>
            <a:ext cx="329184" cy="566928"/>
          </a:xfrm>
          <a:prstGeom prst="roundRect">
            <a:avLst>
              <a:gd name="adj" fmla="val 33333"/>
            </a:avLst>
          </a:prstGeom>
          <a:solidFill>
            <a:srgbClr val="2C5B50"/>
          </a:solidFill>
          <a:ln w="12700">
            <a:solidFill>
              <a:srgbClr val="2C5B5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62088" y="3099816"/>
            <a:ext cx="237744" cy="47548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3127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</a:t>
            </a:r>
            <a:endParaRPr lang="en-US" sz="450" dirty="0"/>
          </a:p>
        </p:txBody>
      </p:sp>
      <p:sp>
        <p:nvSpPr>
          <p:cNvPr id="26" name="Text 24"/>
          <p:cNvSpPr/>
          <p:nvPr/>
        </p:nvSpPr>
        <p:spPr>
          <a:xfrm>
            <a:off x="7598664" y="322417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582205" y="3405591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2205" y="3462284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09560" y="3081528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Интерстеллар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909560" y="3328416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Кристофер Нолан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7909560" y="3520440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Изменить ↗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9473184" y="2962656"/>
            <a:ext cx="1911096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A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054096"/>
            <a:ext cx="329184" cy="566928"/>
          </a:xfrm>
          <a:prstGeom prst="roundRect">
            <a:avLst>
              <a:gd name="adj" fmla="val 33333"/>
            </a:avLst>
          </a:prstGeom>
          <a:solidFill>
            <a:srgbClr val="D9A16F"/>
          </a:solidFill>
          <a:ln w="12700">
            <a:solidFill>
              <a:srgbClr val="D9A16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0" y="3099816"/>
            <a:ext cx="237744" cy="47548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82912" y="3127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</a:t>
            </a:r>
            <a:endParaRPr lang="en-US" sz="450" dirty="0"/>
          </a:p>
        </p:txBody>
      </p:sp>
      <p:sp>
        <p:nvSpPr>
          <p:cNvPr id="36" name="Text 34"/>
          <p:cNvSpPr/>
          <p:nvPr/>
        </p:nvSpPr>
        <p:spPr>
          <a:xfrm>
            <a:off x="9637776" y="322417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621317" y="3405591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21317" y="3462284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48672" y="3081528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Начало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9948672" y="3328416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Кристофер Нолан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9948672" y="3520440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Изменить ↗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7434072" y="3858768"/>
            <a:ext cx="1911096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A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16368" y="3950208"/>
            <a:ext cx="329184" cy="566928"/>
          </a:xfrm>
          <a:prstGeom prst="roundRect">
            <a:avLst>
              <a:gd name="adj" fmla="val 33333"/>
            </a:avLst>
          </a:prstGeom>
          <a:solidFill>
            <a:srgbClr val="697F8A"/>
          </a:solidFill>
          <a:ln w="12700">
            <a:solidFill>
              <a:srgbClr val="697F8A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2088" y="3995928"/>
            <a:ext cx="237744" cy="47548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40233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</a:t>
            </a:r>
            <a:endParaRPr lang="en-US" sz="450" dirty="0"/>
          </a:p>
        </p:txBody>
      </p:sp>
      <p:sp>
        <p:nvSpPr>
          <p:cNvPr id="46" name="Text 44"/>
          <p:cNvSpPr/>
          <p:nvPr/>
        </p:nvSpPr>
        <p:spPr>
          <a:xfrm>
            <a:off x="7598664" y="4120286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7582205" y="4301703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82205" y="4358396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09560" y="397764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1+1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909560" y="422452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О. Накаш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7909560" y="4416552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Изменить ↗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9473184" y="3858768"/>
            <a:ext cx="1911096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A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55480" y="3950208"/>
            <a:ext cx="329184" cy="566928"/>
          </a:xfrm>
          <a:prstGeom prst="roundRect">
            <a:avLst>
              <a:gd name="adj" fmla="val 33333"/>
            </a:avLst>
          </a:prstGeom>
          <a:solidFill>
            <a:srgbClr val="93AC9A"/>
          </a:solidFill>
          <a:ln w="12700">
            <a:solidFill>
              <a:srgbClr val="93AC9A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01200" y="3995928"/>
            <a:ext cx="237744" cy="47548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82912" y="40233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</a:t>
            </a:r>
            <a:endParaRPr lang="en-US" sz="450" dirty="0"/>
          </a:p>
        </p:txBody>
      </p:sp>
      <p:sp>
        <p:nvSpPr>
          <p:cNvPr id="56" name="Text 54"/>
          <p:cNvSpPr/>
          <p:nvPr/>
        </p:nvSpPr>
        <p:spPr>
          <a:xfrm>
            <a:off x="9637776" y="4120286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621317" y="4301703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21317" y="4358396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48672" y="397764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Новый фильм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9916668" y="4215384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Режиссёр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9948672" y="4416552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Изменить ↗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6748272" y="509320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</a:t>
            </a:r>
            <a:endParaRPr lang="en-US" sz="450" dirty="0"/>
          </a:p>
        </p:txBody>
      </p:sp>
      <p:sp>
        <p:nvSpPr>
          <p:cNvPr id="76" name="Text 74"/>
          <p:cNvSpPr/>
          <p:nvPr/>
        </p:nvSpPr>
        <p:spPr>
          <a:xfrm>
            <a:off x="7863840" y="521208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</a:t>
            </a:r>
            <a:endParaRPr lang="en-US" sz="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84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Идея проекта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Небольшой сайт, который показывает полный цикл работы с данными.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21792" y="1554480"/>
            <a:ext cx="5257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3E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10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ЗАДАЧА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96112" y="2139696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Собрать фильмы удобно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05256" y="263347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Вместо списка в заметках — общий каталог, который можно открыть в браузере и обновлять через форму.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67528" cy="1901952"/>
          </a:xfrm>
          <a:prstGeom prst="roundRect">
            <a:avLst>
              <a:gd name="adj" fmla="val 5769"/>
            </a:avLst>
          </a:prstGeom>
          <a:solidFill>
            <a:srgbClr val="2C5B50"/>
          </a:solidFill>
          <a:ln w="12700">
            <a:solidFill>
              <a:srgbClr val="2C5B5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664" y="1810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РЕШЕНИЕ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55664" y="2139696"/>
            <a:ext cx="4526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Сайт + база данных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73952" y="263347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E0E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Flask обрабатывает действия пользователя, а PostgreSQL сохраняет записи так, чтобы они не пропадали после закрытия страницы.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3858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ЦЕЛИ ПРОЕКТА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4270248"/>
            <a:ext cx="349300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4480560"/>
            <a:ext cx="438912" cy="384048"/>
          </a:xfrm>
          <a:prstGeom prst="roundRect">
            <a:avLst>
              <a:gd name="adj" fmla="val 28571"/>
            </a:avLst>
          </a:prstGeom>
          <a:solidFill>
            <a:srgbClr val="E5EEE7"/>
          </a:solidFill>
          <a:ln w="12700">
            <a:solidFill>
              <a:srgbClr val="E5EEE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4805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44714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Управлять каталогом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86460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Добавлять, изменять и удалять фильмы.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25696" y="4270248"/>
            <a:ext cx="349300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4480560"/>
            <a:ext cx="438912" cy="384048"/>
          </a:xfrm>
          <a:prstGeom prst="roundRect">
            <a:avLst>
              <a:gd name="adj" fmla="val 28571"/>
            </a:avLst>
          </a:prstGeom>
          <a:solidFill>
            <a:srgbClr val="E5EEE7"/>
          </a:solidFill>
          <a:ln w="12700">
            <a:solidFill>
              <a:srgbClr val="E5EEE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44805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84648" y="44714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Находить нужное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84648" y="486460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Искать по названию, режиссёру и жанру.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93024" y="4270248"/>
            <a:ext cx="349300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75904" y="4480560"/>
            <a:ext cx="438912" cy="384048"/>
          </a:xfrm>
          <a:prstGeom prst="roundRect">
            <a:avLst>
              <a:gd name="adj" fmla="val 28571"/>
            </a:avLst>
          </a:prstGeom>
          <a:solidFill>
            <a:srgbClr val="E5EEE7"/>
          </a:solidFill>
          <a:ln w="12700">
            <a:solidFill>
              <a:srgbClr val="E5EEE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75904" y="44805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51976" y="44714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Проверять данные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51976" y="486460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Показывать строки таблицы в pgAdmin 4.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84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Структура базы данных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учебного проекта достаточно одной таблицы movies.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94944" y="1517904"/>
            <a:ext cx="55778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517904"/>
            <a:ext cx="5577840" cy="585216"/>
          </a:xfrm>
          <a:prstGeom prst="roundRect">
            <a:avLst>
              <a:gd name="adj" fmla="val 18750"/>
            </a:avLst>
          </a:prstGeom>
          <a:solidFill>
            <a:srgbClr val="2C5B50"/>
          </a:solidFill>
          <a:ln w="12700">
            <a:solidFill>
              <a:srgbClr val="2C5B5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367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   movies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50392" y="2194560"/>
            <a:ext cx="5248656" cy="438912"/>
          </a:xfrm>
          <a:prstGeom prst="rect">
            <a:avLst/>
          </a:prstGeom>
          <a:solidFill>
            <a:srgbClr val="F6F8F4"/>
          </a:solidFill>
          <a:ln w="12700">
            <a:solidFill>
              <a:srgbClr val="F6F8F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2219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22219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SERIAL PRIMARY KEY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70832" y="222199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Уникальный номер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87552" y="27340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27340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VARCHAR(150) NOT NULL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70832" y="27340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Название фильма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50392" y="3218688"/>
            <a:ext cx="5248656" cy="438912"/>
          </a:xfrm>
          <a:prstGeom prst="rect">
            <a:avLst/>
          </a:prstGeom>
          <a:solidFill>
            <a:srgbClr val="F6F8F4"/>
          </a:solidFill>
          <a:ln w="12700">
            <a:solidFill>
              <a:srgbClr val="F6F8F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246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VARCHAR(120) NOT NULL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70832" y="3246120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Режиссёр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552" y="375818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release_year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37581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70832" y="3758184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Год выхода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50392" y="4242816"/>
            <a:ext cx="5248656" cy="438912"/>
          </a:xfrm>
          <a:prstGeom prst="rect">
            <a:avLst/>
          </a:prstGeom>
          <a:solidFill>
            <a:srgbClr val="F6F8F4"/>
          </a:solidFill>
          <a:ln w="12700">
            <a:solidFill>
              <a:srgbClr val="F6F8F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2702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42702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VARCHAR(80) NOT NULL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70832" y="4270248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Жанр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87552" y="47823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47823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NUMERIC(3,1)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70832" y="478231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Рейтинг 0–10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75120" y="1517904"/>
            <a:ext cx="4809744" cy="2121408"/>
          </a:xfrm>
          <a:prstGeom prst="roundRect">
            <a:avLst>
              <a:gd name="adj" fmla="val 5172"/>
            </a:avLst>
          </a:prstGeom>
          <a:solidFill>
            <a:srgbClr val="202C2B"/>
          </a:solidFill>
          <a:ln w="12700">
            <a:solidFill>
              <a:srgbClr val="202C2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31152" y="1755648"/>
            <a:ext cx="1143000" cy="292608"/>
          </a:xfrm>
          <a:prstGeom prst="roundRect">
            <a:avLst>
              <a:gd name="adj" fmla="val 37500"/>
            </a:avLst>
          </a:prstGeom>
          <a:solidFill>
            <a:srgbClr val="355149"/>
          </a:solidFill>
          <a:ln w="12700">
            <a:solidFill>
              <a:srgbClr val="35514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176479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F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 SQL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49440" y="2212848"/>
            <a:ext cx="4069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5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title, director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5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movies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5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id;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11696" y="3904488"/>
            <a:ext cx="4599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Этот запрос выводит фильмы из базы. Его можно выполнить в Query Tool pgAdmin 4.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0" y="4754880"/>
            <a:ext cx="4809744" cy="1042416"/>
          </a:xfrm>
          <a:prstGeom prst="roundRect">
            <a:avLst>
              <a:gd name="adj" fmla="val 10526"/>
            </a:avLst>
          </a:prstGeom>
          <a:solidFill>
            <a:srgbClr val="E5EEE7"/>
          </a:solidFill>
          <a:ln w="12700">
            <a:solidFill>
              <a:srgbClr val="E5EEE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88936" y="49560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Первичный ключ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88936" y="5257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отличает каждую запись.</a:t>
            </a:r>
            <a:endParaRPr lang="en-US" sz="1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24ECE13-5771-043E-68D0-FCFD3CD3D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85" y="1514231"/>
            <a:ext cx="5826924" cy="45329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84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умеет сайт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Интерфейс сделан простым: каталог, поиск и форма добавления находятся на одной странице.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5806440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1E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81328"/>
            <a:ext cx="5806440" cy="292608"/>
          </a:xfrm>
          <a:prstGeom prst="roundRect">
            <a:avLst>
              <a:gd name="adj" fmla="val 37500"/>
            </a:avLst>
          </a:prstGeom>
          <a:solidFill>
            <a:srgbClr val="F0F2EC"/>
          </a:solidFill>
          <a:ln w="12700">
            <a:solidFill>
              <a:srgbClr val="F0F2E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586484"/>
            <a:ext cx="64008" cy="64008"/>
          </a:xfrm>
          <a:prstGeom prst="ellipse">
            <a:avLst/>
          </a:prstGeom>
          <a:solidFill>
            <a:srgbClr val="E5A48E"/>
          </a:solidFill>
          <a:ln w="12700">
            <a:solidFill>
              <a:srgbClr val="E5A4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586484"/>
            <a:ext cx="64008" cy="64008"/>
          </a:xfrm>
          <a:prstGeom prst="ellipse">
            <a:avLst/>
          </a:prstGeom>
          <a:solidFill>
            <a:srgbClr val="E6C37A"/>
          </a:solidFill>
          <a:ln w="12700">
            <a:solidFill>
              <a:srgbClr val="E6C3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1586484"/>
            <a:ext cx="64008" cy="64008"/>
          </a:xfrm>
          <a:prstGeom prst="ellipse">
            <a:avLst/>
          </a:prstGeom>
          <a:solidFill>
            <a:srgbClr val="91B59B"/>
          </a:solidFill>
          <a:ln w="12700">
            <a:solidFill>
              <a:srgbClr val="91B5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83664"/>
            <a:ext cx="33096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КАДР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2185416"/>
            <a:ext cx="377418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Каталог фильмов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578608"/>
            <a:ext cx="5477256" cy="329184"/>
          </a:xfrm>
          <a:prstGeom prst="roundRect">
            <a:avLst>
              <a:gd name="adj" fmla="val 33333"/>
            </a:avLst>
          </a:prstGeom>
          <a:solidFill>
            <a:srgbClr val="F8F9F5"/>
          </a:solidFill>
          <a:ln w="12700">
            <a:solidFill>
              <a:srgbClr val="E7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596896"/>
            <a:ext cx="5257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   Поиск фильма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22960" y="3054096"/>
            <a:ext cx="267462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A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" y="3145536"/>
            <a:ext cx="329184" cy="566928"/>
          </a:xfrm>
          <a:prstGeom prst="roundRect">
            <a:avLst>
              <a:gd name="adj" fmla="val 33333"/>
            </a:avLst>
          </a:prstGeom>
          <a:solidFill>
            <a:srgbClr val="2C5B50"/>
          </a:solidFill>
          <a:ln w="12700">
            <a:solidFill>
              <a:srgbClr val="2C5B5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3191256"/>
            <a:ext cx="237744" cy="47548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21868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</a:t>
            </a:r>
            <a:endParaRPr lang="en-US" sz="450" dirty="0"/>
          </a:p>
        </p:txBody>
      </p:sp>
      <p:sp>
        <p:nvSpPr>
          <p:cNvPr id="17" name="Text 15"/>
          <p:cNvSpPr/>
          <p:nvPr/>
        </p:nvSpPr>
        <p:spPr>
          <a:xfrm>
            <a:off x="987552" y="331561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71093" y="3497031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3" y="3553724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8448" y="3172968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Интерстеллар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298448" y="3419856"/>
            <a:ext cx="21259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Кристофер Нолан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298448" y="3611880"/>
            <a:ext cx="21259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Изменить ↗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3625596" y="3054096"/>
            <a:ext cx="267462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A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07892" y="3145536"/>
            <a:ext cx="329184" cy="566928"/>
          </a:xfrm>
          <a:prstGeom prst="roundRect">
            <a:avLst>
              <a:gd name="adj" fmla="val 33333"/>
            </a:avLst>
          </a:prstGeom>
          <a:solidFill>
            <a:srgbClr val="D9A16F"/>
          </a:solidFill>
          <a:ln w="12700">
            <a:solidFill>
              <a:srgbClr val="D9A16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53612" y="3191256"/>
            <a:ext cx="237744" cy="47548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5324" y="321868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</a:t>
            </a:r>
            <a:endParaRPr lang="en-US" sz="450" dirty="0"/>
          </a:p>
        </p:txBody>
      </p:sp>
      <p:sp>
        <p:nvSpPr>
          <p:cNvPr id="27" name="Text 25"/>
          <p:cNvSpPr/>
          <p:nvPr/>
        </p:nvSpPr>
        <p:spPr>
          <a:xfrm>
            <a:off x="3790188" y="331561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773729" y="3497031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73729" y="3553724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01084" y="3172968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Начало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101084" y="3419856"/>
            <a:ext cx="21259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Кристофер Нолан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101084" y="3611880"/>
            <a:ext cx="21259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Изменить ↗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822960" y="3950208"/>
            <a:ext cx="267462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A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" y="4041648"/>
            <a:ext cx="329184" cy="566928"/>
          </a:xfrm>
          <a:prstGeom prst="roundRect">
            <a:avLst>
              <a:gd name="adj" fmla="val 33333"/>
            </a:avLst>
          </a:prstGeom>
          <a:solidFill>
            <a:srgbClr val="697F8A"/>
          </a:solidFill>
          <a:ln w="12700">
            <a:solidFill>
              <a:srgbClr val="697F8A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4087368"/>
            <a:ext cx="237744" cy="47548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41148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</a:t>
            </a:r>
            <a:endParaRPr lang="en-US" sz="450" dirty="0"/>
          </a:p>
        </p:txBody>
      </p:sp>
      <p:sp>
        <p:nvSpPr>
          <p:cNvPr id="37" name="Text 35"/>
          <p:cNvSpPr/>
          <p:nvPr/>
        </p:nvSpPr>
        <p:spPr>
          <a:xfrm>
            <a:off x="987552" y="4211726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71093" y="4393143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1093" y="4449836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98448" y="4069080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1+1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298448" y="4315968"/>
            <a:ext cx="21259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О. Накаш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1298448" y="4507992"/>
            <a:ext cx="21259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Изменить ↗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3625596" y="3950208"/>
            <a:ext cx="267462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A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07892" y="4041648"/>
            <a:ext cx="329184" cy="566928"/>
          </a:xfrm>
          <a:prstGeom prst="roundRect">
            <a:avLst>
              <a:gd name="adj" fmla="val 33333"/>
            </a:avLst>
          </a:prstGeom>
          <a:solidFill>
            <a:srgbClr val="93AC9A"/>
          </a:solidFill>
          <a:ln w="12700">
            <a:solidFill>
              <a:srgbClr val="93AC9A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53612" y="4087368"/>
            <a:ext cx="237744" cy="47548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5324" y="41148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</a:t>
            </a:r>
            <a:endParaRPr lang="en-US" sz="450" dirty="0"/>
          </a:p>
        </p:txBody>
      </p:sp>
      <p:sp>
        <p:nvSpPr>
          <p:cNvPr id="47" name="Text 45"/>
          <p:cNvSpPr/>
          <p:nvPr/>
        </p:nvSpPr>
        <p:spPr>
          <a:xfrm>
            <a:off x="3790188" y="4211726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3773729" y="4393143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73729" y="4449836"/>
            <a:ext cx="1975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01084" y="4069080"/>
            <a:ext cx="2125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Новый фильм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101084" y="4315968"/>
            <a:ext cx="21259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Режиссёр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101084" y="4507992"/>
            <a:ext cx="21259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Изменить ↗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6903720" y="1600200"/>
            <a:ext cx="438912" cy="411480"/>
          </a:xfrm>
          <a:prstGeom prst="roundRect">
            <a:avLst>
              <a:gd name="adj" fmla="val 26667"/>
            </a:avLst>
          </a:prstGeom>
          <a:solidFill>
            <a:srgbClr val="E5EEE7"/>
          </a:solidFill>
          <a:ln w="12700">
            <a:solidFill>
              <a:srgbClr val="E5EEE7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03720" y="160020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525512" y="1591056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Просмотр каталога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7534656" y="19476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Все фильмы выводятся из таблицы PostgreSQL.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114032" y="2048256"/>
            <a:ext cx="0" cy="502920"/>
          </a:xfrm>
          <a:prstGeom prst="line">
            <a:avLst/>
          </a:prstGeom>
          <a:noFill/>
          <a:ln w="12700">
            <a:solidFill>
              <a:srgbClr val="E3E7D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03720" y="2633472"/>
            <a:ext cx="438912" cy="411480"/>
          </a:xfrm>
          <a:prstGeom prst="roundRect">
            <a:avLst>
              <a:gd name="adj" fmla="val 26667"/>
            </a:avLst>
          </a:prstGeom>
          <a:solidFill>
            <a:srgbClr val="E5EEE7"/>
          </a:solidFill>
          <a:ln w="12700">
            <a:solidFill>
              <a:srgbClr val="E5EEE7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03720" y="263347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525512" y="2624328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Поиск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7534656" y="29809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Фильтр по названию, режиссёру или жанру.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114032" y="3081528"/>
            <a:ext cx="0" cy="502920"/>
          </a:xfrm>
          <a:prstGeom prst="line">
            <a:avLst/>
          </a:prstGeom>
          <a:noFill/>
          <a:ln w="12700">
            <a:solidFill>
              <a:srgbClr val="E3E7D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03720" y="3666744"/>
            <a:ext cx="438912" cy="411480"/>
          </a:xfrm>
          <a:prstGeom prst="roundRect">
            <a:avLst>
              <a:gd name="adj" fmla="val 26667"/>
            </a:avLst>
          </a:prstGeom>
          <a:solidFill>
            <a:srgbClr val="E5EEE7"/>
          </a:solidFill>
          <a:ln w="12700">
            <a:solidFill>
              <a:srgbClr val="E5EEE7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03720" y="3666744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525512" y="3657600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Добавление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7534656" y="40142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 проверяет обязательные поля.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114032" y="4114800"/>
            <a:ext cx="0" cy="502920"/>
          </a:xfrm>
          <a:prstGeom prst="line">
            <a:avLst/>
          </a:prstGeom>
          <a:noFill/>
          <a:ln w="12700">
            <a:solidFill>
              <a:srgbClr val="E3E7D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03720" y="4700016"/>
            <a:ext cx="438912" cy="411480"/>
          </a:xfrm>
          <a:prstGeom prst="roundRect">
            <a:avLst>
              <a:gd name="adj" fmla="val 26667"/>
            </a:avLst>
          </a:prstGeom>
          <a:solidFill>
            <a:srgbClr val="F4E6D8"/>
          </a:solidFill>
          <a:ln w="12700">
            <a:solidFill>
              <a:srgbClr val="F4E6D8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03720" y="4700016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65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525512" y="4690872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Изменение и удаление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7534656" y="50474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Кнопки для редактирования записи и удаления.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903720" y="5806440"/>
            <a:ext cx="4526280" cy="365760"/>
          </a:xfrm>
          <a:prstGeom prst="roundRect">
            <a:avLst>
              <a:gd name="adj" fmla="val 30000"/>
            </a:avLst>
          </a:prstGeom>
          <a:solidFill>
            <a:srgbClr val="EFF3EB"/>
          </a:solidFill>
          <a:ln w="12700">
            <a:solidFill>
              <a:srgbClr val="EFF3EB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59168" y="5843016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Изменения сразу записываются в базу данных.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7C5A20-D2D7-E05B-BE30-8897E8B43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966788"/>
            <a:ext cx="5562600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36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84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Технологии проекта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 каждого инструмента своя роль — от браузера до хранения данных.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755648"/>
            <a:ext cx="2615184" cy="329184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2700">
            <a:solidFill>
              <a:srgbClr val="E3E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93392"/>
            <a:ext cx="448056" cy="402336"/>
          </a:xfrm>
          <a:prstGeom prst="roundRect">
            <a:avLst>
              <a:gd name="adj" fmla="val 27273"/>
            </a:avLst>
          </a:prstGeom>
          <a:solidFill>
            <a:srgbClr val="E4EBE3"/>
          </a:solidFill>
          <a:ln w="12700">
            <a:solidFill>
              <a:srgbClr val="E4EBE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93392"/>
            <a:ext cx="448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660904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+ CSS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218688"/>
            <a:ext cx="2212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Внешний вид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657600"/>
            <a:ext cx="2194560" cy="0"/>
          </a:xfrm>
          <a:prstGeom prst="line">
            <a:avLst/>
          </a:prstGeom>
          <a:noFill/>
          <a:ln w="12700">
            <a:solidFill>
              <a:srgbClr val="E3E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67912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Структура страниц, карточки фильмов, формы и адаптивная разметка.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92608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9BA6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529584" y="1755648"/>
            <a:ext cx="2615184" cy="329184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2700">
            <a:solidFill>
              <a:srgbClr val="E3E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39896" y="1993392"/>
            <a:ext cx="448056" cy="402336"/>
          </a:xfrm>
          <a:prstGeom prst="roundRect">
            <a:avLst>
              <a:gd name="adj" fmla="val 27273"/>
            </a:avLst>
          </a:prstGeom>
          <a:solidFill>
            <a:srgbClr val="F2E3D5"/>
          </a:solidFill>
          <a:ln w="12700">
            <a:solidFill>
              <a:srgbClr val="F2E3D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1993392"/>
            <a:ext cx="448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17C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39896" y="2660904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39896" y="3218688"/>
            <a:ext cx="2212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17C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Логика сайта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39896" y="3657600"/>
            <a:ext cx="2194560" cy="0"/>
          </a:xfrm>
          <a:prstGeom prst="line">
            <a:avLst/>
          </a:prstGeom>
          <a:noFill/>
          <a:ln w="12700">
            <a:solidFill>
              <a:srgbClr val="E3E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9896" y="3867912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полей и обработка действий пользователя.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292608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9BA6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00800" y="1755648"/>
            <a:ext cx="2615184" cy="329184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2700">
            <a:solidFill>
              <a:srgbClr val="E3E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11112" y="1993392"/>
            <a:ext cx="448056" cy="402336"/>
          </a:xfrm>
          <a:prstGeom prst="roundRect">
            <a:avLst>
              <a:gd name="adj" fmla="val 27273"/>
            </a:avLst>
          </a:prstGeom>
          <a:solidFill>
            <a:srgbClr val="DEE8ED"/>
          </a:solidFill>
          <a:ln w="12700">
            <a:solidFill>
              <a:srgbClr val="DEE8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11112" y="1993392"/>
            <a:ext cx="448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97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11112" y="2660904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Flask + psycopg2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11112" y="3218688"/>
            <a:ext cx="2212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97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Связь с базой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11112" y="3657600"/>
            <a:ext cx="2194560" cy="0"/>
          </a:xfrm>
          <a:prstGeom prst="line">
            <a:avLst/>
          </a:prstGeom>
          <a:noFill/>
          <a:ln w="12700">
            <a:solidFill>
              <a:srgbClr val="E3E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3867912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Веб-маршруты и SQL-запросы к PostgreSQL.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34272" y="292608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9BA6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9272016" y="1755648"/>
            <a:ext cx="2276856" cy="329184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3E7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82328" y="1993392"/>
            <a:ext cx="448056" cy="402336"/>
          </a:xfrm>
          <a:prstGeom prst="roundRect">
            <a:avLst>
              <a:gd name="adj" fmla="val 27273"/>
            </a:avLst>
          </a:prstGeom>
          <a:solidFill>
            <a:srgbClr val="E7E8D8"/>
          </a:solidFill>
          <a:ln w="12700">
            <a:solidFill>
              <a:srgbClr val="E7E8D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82328" y="1993392"/>
            <a:ext cx="448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D8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82328" y="266090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482328" y="3218688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8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Хранение данных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482328" y="3657600"/>
            <a:ext cx="1856232" cy="0"/>
          </a:xfrm>
          <a:prstGeom prst="line">
            <a:avLst/>
          </a:prstGeom>
          <a:noFill/>
          <a:ln w="12700">
            <a:solidFill>
              <a:srgbClr val="E3E7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82328" y="3867912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Таблица фильмов, которую можно просматривать в pgAdmin 4.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" y="539496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2C5B50"/>
          </a:solidFill>
          <a:ln w="12700">
            <a:solidFill>
              <a:srgbClr val="2C5B5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54126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Браузер  →  Flask  →  SQL-запрос  →  PostgreSQL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528679-8217-D763-D0A9-B4BDA0666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725" y="2519363"/>
            <a:ext cx="66865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373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84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Основные операции — CRUD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Сайт демонстрирует четыре базовые операции с данными.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719072"/>
            <a:ext cx="2240280" cy="3401568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94767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DCEBE0"/>
          </a:solidFill>
          <a:ln w="12700">
            <a:solidFill>
              <a:srgbClr val="DCEBE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947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59536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9536" y="30723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Создать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" y="353872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Добавить фильм через форму.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" y="4361688"/>
            <a:ext cx="1929384" cy="475488"/>
          </a:xfrm>
          <a:prstGeom prst="roundRect">
            <a:avLst>
              <a:gd name="adj" fmla="val 23077"/>
            </a:avLst>
          </a:prstGeom>
          <a:solidFill>
            <a:srgbClr val="F5F6F1"/>
          </a:solidFill>
          <a:ln w="12700">
            <a:solidFill>
              <a:srgbClr val="F5F6F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445312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202C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movies ...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538728" y="1719072"/>
            <a:ext cx="2240280" cy="3401568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39896" y="194767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DEE8ED"/>
          </a:solidFill>
          <a:ln w="12700">
            <a:solidFill>
              <a:srgbClr val="DEE8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1947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97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39896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739896" y="30723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97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Прочитать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39896" y="353872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Показать каталог или найти фильм.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94176" y="4361688"/>
            <a:ext cx="1929384" cy="475488"/>
          </a:xfrm>
          <a:prstGeom prst="roundRect">
            <a:avLst>
              <a:gd name="adj" fmla="val 23077"/>
            </a:avLst>
          </a:prstGeom>
          <a:solidFill>
            <a:srgbClr val="F5F6F1"/>
          </a:solidFill>
          <a:ln w="12700">
            <a:solidFill>
              <a:srgbClr val="F5F6F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67328" y="445312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202C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movies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19088" y="1719072"/>
            <a:ext cx="2240280" cy="3401568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0256" y="194767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3E6D8"/>
          </a:solidFill>
          <a:ln w="12700">
            <a:solidFill>
              <a:srgbClr val="F3E6D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1947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17C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620256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620256" y="30723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17C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Изменить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20256" y="353872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Изменить рейтинг, режиссёра или год.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74536" y="4361688"/>
            <a:ext cx="1929384" cy="475488"/>
          </a:xfrm>
          <a:prstGeom prst="roundRect">
            <a:avLst>
              <a:gd name="adj" fmla="val 23077"/>
            </a:avLst>
          </a:prstGeom>
          <a:solidFill>
            <a:srgbClr val="F5F6F1"/>
          </a:solidFill>
          <a:ln w="12700">
            <a:solidFill>
              <a:srgbClr val="F5F6F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445312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202C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movies SET ...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299448" y="1719072"/>
            <a:ext cx="2240280" cy="3401568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7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0616" y="194767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3DEDA"/>
          </a:solidFill>
          <a:ln w="12700">
            <a:solidFill>
              <a:srgbClr val="F3DED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0616" y="1947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65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9500616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Delete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500616" y="30723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65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Удалить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00616" y="353872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Удалить запись с подтверждением.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454896" y="4361688"/>
            <a:ext cx="1929384" cy="475488"/>
          </a:xfrm>
          <a:prstGeom prst="roundRect">
            <a:avLst>
              <a:gd name="adj" fmla="val 23077"/>
            </a:avLst>
          </a:prstGeom>
          <a:solidFill>
            <a:srgbClr val="F5F6F1"/>
          </a:solidFill>
          <a:ln w="12700">
            <a:solidFill>
              <a:srgbClr val="F5F6F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28048" y="445312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202C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movies ...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58368" y="5440680"/>
            <a:ext cx="10881360" cy="621792"/>
          </a:xfrm>
          <a:prstGeom prst="roundRect">
            <a:avLst>
              <a:gd name="adj" fmla="val 17647"/>
            </a:avLst>
          </a:prstGeom>
          <a:solidFill>
            <a:srgbClr val="E5EEE7"/>
          </a:solidFill>
          <a:ln w="12700">
            <a:solidFill>
              <a:srgbClr val="E5EEE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57784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Важно: после изменения данных обновите View/Edit Data → All Rows в pgAdmin.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84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02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Запуск и демонстрация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Последовательность для показа проекта на занятии.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517904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5EEE7"/>
          </a:solidFill>
          <a:ln w="12700">
            <a:solidFill>
              <a:srgbClr val="E5EE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17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89888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Создать БД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0" y="1508760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pgAdmin создать базу movie_db и выполнить schema.sql.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32688" y="1965960"/>
            <a:ext cx="0" cy="493776"/>
          </a:xfrm>
          <a:prstGeom prst="line">
            <a:avLst/>
          </a:prstGeom>
          <a:noFill/>
          <a:ln w="15240">
            <a:solidFill>
              <a:srgbClr val="CBD7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48716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5EEE7"/>
          </a:solidFill>
          <a:ln w="12700">
            <a:solidFill>
              <a:srgbClr val="E5EEE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2478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Настроить доступ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2478024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Скопировать .env.example в .env и указать пароль PostgreSQL.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2935224"/>
            <a:ext cx="0" cy="493776"/>
          </a:xfrm>
          <a:prstGeom prst="line">
            <a:avLst/>
          </a:prstGeom>
          <a:noFill/>
          <a:ln w="15240">
            <a:solidFill>
              <a:srgbClr val="CBD7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456432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5EEE7"/>
          </a:solidFill>
          <a:ln w="12700">
            <a:solidFill>
              <a:srgbClr val="E5EEE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456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89888" y="3447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Запустить Flask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03320" y="3447288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Установить requirements.txt и выполнить python app.py.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2688" y="3904488"/>
            <a:ext cx="0" cy="493776"/>
          </a:xfrm>
          <a:prstGeom prst="line">
            <a:avLst/>
          </a:prstGeom>
          <a:noFill/>
          <a:ln w="15240">
            <a:solidFill>
              <a:srgbClr val="CBD7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4425696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F4E6D8"/>
          </a:solidFill>
          <a:ln w="12700">
            <a:solidFill>
              <a:srgbClr val="F4E6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425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65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89888" y="4416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C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Показать CRUD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03320" y="4416552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7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Добавить, изменить и удалить фильм; обновить таблицу movies.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" y="5513832"/>
            <a:ext cx="10881360" cy="566928"/>
          </a:xfrm>
          <a:prstGeom prst="roundRect">
            <a:avLst>
              <a:gd name="adj" fmla="val 19355"/>
            </a:avLst>
          </a:prstGeom>
          <a:solidFill>
            <a:srgbClr val="2C5B50"/>
          </a:solidFill>
          <a:ln w="12700">
            <a:solidFill>
              <a:srgbClr val="2C5B5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61441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Спасибо за внимание!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584</Words>
  <Application>Microsoft Office PowerPoint</Application>
  <PresentationFormat>Широкоэкранный</PresentationFormat>
  <Paragraphs>181</Paragraphs>
  <Slides>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Учебный проект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Кадр — каталог фильмов</dc:title>
  <dc:subject>Учебный проект: каталог фильмов на Flask и PostgreSQL</dc:subject>
  <dc:creator>OpenAI</dc:creator>
  <cp:lastModifiedBy>vewc frvev</cp:lastModifiedBy>
  <cp:revision>20</cp:revision>
  <dcterms:created xsi:type="dcterms:W3CDTF">2026-10-19T13:39:32Z</dcterms:created>
  <dcterms:modified xsi:type="dcterms:W3CDTF">2026-10-19T14:18:39Z</dcterms:modified>
</cp:coreProperties>
</file>